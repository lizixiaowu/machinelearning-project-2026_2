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25365af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c25365af8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6e278f2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c6e278f29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6e278f29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c6e278f297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25365af8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c25365af82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25365af82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c25365af82_0_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25365af82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c25365af82_0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25365af8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c25365af82_0_1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25365af8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c25365af82_0_1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25365af8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c25365af82_0_1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25365af82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c25365af82_0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25365af8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c25365af82_0_2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5365af82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c25365af82_0_2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25365af82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c25365af82_0_3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6e278f29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c6e278f297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6e278f29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c6e278f297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6e278f29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c6e278f297_0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6e278f29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c6e278f297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6e278f29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c6e278f297_0_1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25365af82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c25365af82_0_2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25365af8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c25365af82_0_2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25365af82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c25365af82_0_3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_2" showMasterSp="0">
  <p:cSld name="Couv_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576000" y="4588744"/>
            <a:ext cx="35283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5"/>
              <a:buFont typeface="Arial"/>
              <a:buNone/>
              <a:defRPr b="1" i="0" sz="9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72000"/>
              </a:lnSpc>
              <a:spcBef>
                <a:spcPts val="400"/>
              </a:spcBef>
              <a:spcAft>
                <a:spcPts val="0"/>
              </a:spcAft>
              <a:buSzPts val="2160"/>
              <a:buChar char="•"/>
              <a:defRPr/>
            </a:lvl2pPr>
            <a:lvl3pPr indent="-342900" lvl="2" marL="1371600" algn="l">
              <a:lnSpc>
                <a:spcPct val="61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Titre de la  présentation sur trois lignes." id="52" name="Google Shape;52;p13"/>
          <p:cNvSpPr txBox="1"/>
          <p:nvPr>
            <p:ph type="title"/>
          </p:nvPr>
        </p:nvSpPr>
        <p:spPr>
          <a:xfrm>
            <a:off x="576001" y="1890687"/>
            <a:ext cx="4942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b="1" i="1" sz="3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subTitle"/>
          </p:nvPr>
        </p:nvSpPr>
        <p:spPr>
          <a:xfrm>
            <a:off x="576000" y="3507854"/>
            <a:ext cx="40368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0"/>
              <a:buFont typeface="Arial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SzPts val="1320"/>
              <a:buNone/>
              <a:defRPr>
                <a:solidFill>
                  <a:srgbClr val="898989"/>
                </a:solidFill>
              </a:defRPr>
            </a:lvl2pPr>
            <a:lvl3pPr lvl="2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>
                <a:solidFill>
                  <a:srgbClr val="898989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>
                <a:solidFill>
                  <a:srgbClr val="898989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>
                <a:solidFill>
                  <a:srgbClr val="898989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98989"/>
              </a:buClr>
              <a:buSzPts val="2000"/>
              <a:buNone/>
              <a:defRPr>
                <a:solidFill>
                  <a:srgbClr val="898989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98989"/>
              </a:buClr>
              <a:buSzPts val="2000"/>
              <a:buNone/>
              <a:defRPr>
                <a:solidFill>
                  <a:srgbClr val="898989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98989"/>
              </a:buClr>
              <a:buSzPts val="2000"/>
              <a:buNone/>
              <a:defRPr>
                <a:solidFill>
                  <a:srgbClr val="898989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98989"/>
              </a:buClr>
              <a:buSzPts val="20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4000" y="486000"/>
            <a:ext cx="7560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503238" y="1131591"/>
            <a:ext cx="7560900" cy="3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/>
            </a:lvl1pPr>
            <a:lvl2pPr indent="-365760" lvl="1" marL="914400" algn="l">
              <a:lnSpc>
                <a:spcPct val="72000"/>
              </a:lnSpc>
              <a:spcBef>
                <a:spcPts val="400"/>
              </a:spcBef>
              <a:spcAft>
                <a:spcPts val="0"/>
              </a:spcAft>
              <a:buSzPts val="2160"/>
              <a:buChar char="•"/>
              <a:defRPr/>
            </a:lvl2pPr>
            <a:lvl3pPr indent="-342900" lvl="2" marL="1371600" algn="l">
              <a:lnSpc>
                <a:spcPct val="61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0" y="4963500"/>
            <a:ext cx="180000" cy="180000"/>
          </a:xfrm>
          <a:prstGeom prst="rect">
            <a:avLst/>
          </a:prstGeom>
          <a:noFill/>
          <a:ln cap="flat" cmpd="sng" w="9525">
            <a:solidFill>
              <a:schemeClr val="lt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755576" y="4706904"/>
            <a:ext cx="68400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30506" l="35144" r="40560" t="40918"/>
          <a:stretch/>
        </p:blipFill>
        <p:spPr>
          <a:xfrm>
            <a:off x="5040560" y="0"/>
            <a:ext cx="43559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type="title"/>
          </p:nvPr>
        </p:nvSpPr>
        <p:spPr>
          <a:xfrm>
            <a:off x="576001" y="1285532"/>
            <a:ext cx="4942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0" sz="2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0" lang="fr" sz="2800"/>
              <a:t>Machine Learning </a:t>
            </a:r>
            <a:endParaRPr i="0" sz="2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0" lang="fr" sz="2800"/>
              <a:t>Project</a:t>
            </a:r>
            <a:endParaRPr i="0" sz="2800"/>
          </a:p>
        </p:txBody>
      </p:sp>
      <p:sp>
        <p:nvSpPr>
          <p:cNvPr id="67" name="Google Shape;67;p15"/>
          <p:cNvSpPr txBox="1"/>
          <p:nvPr>
            <p:ph idx="2" type="subTitle"/>
          </p:nvPr>
        </p:nvSpPr>
        <p:spPr>
          <a:xfrm>
            <a:off x="576000" y="3229724"/>
            <a:ext cx="40368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fr" sz="1625"/>
              <a:t>Hanxiao SUN</a:t>
            </a:r>
            <a:endParaRPr sz="1375"/>
          </a:p>
        </p:txBody>
      </p:sp>
      <p:sp>
        <p:nvSpPr>
          <p:cNvPr id="68" name="Google Shape;68;p15"/>
          <p:cNvSpPr/>
          <p:nvPr/>
        </p:nvSpPr>
        <p:spPr>
          <a:xfrm>
            <a:off x="6444208" y="358206"/>
            <a:ext cx="2466000" cy="2466300"/>
          </a:xfrm>
          <a:prstGeom prst="ellipse">
            <a:avLst/>
          </a:prstGeom>
          <a:noFill/>
          <a:ln cap="flat" cmpd="sng" w="222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00" y="358200"/>
            <a:ext cx="4942326" cy="5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6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Background</a:t>
            </a:r>
            <a:endParaRPr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626350" y="1157425"/>
            <a:ext cx="8079000" cy="3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Criteo — Company Background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Founded in 2005 in France, a global Commerce Media company.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>
                <a:solidFill>
                  <a:schemeClr val="dk1"/>
                </a:solidFill>
              </a:rPr>
              <a:t>Core purpose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Provides a </a:t>
            </a:r>
            <a:r>
              <a:rPr b="1" lang="fr" sz="1100">
                <a:solidFill>
                  <a:schemeClr val="dk1"/>
                </a:solidFill>
              </a:rPr>
              <a:t>Commerce Media platform</a:t>
            </a:r>
            <a:r>
              <a:rPr lang="fr" sz="1100">
                <a:solidFill>
                  <a:schemeClr val="dk1"/>
                </a:solidFill>
              </a:rPr>
              <a:t> that connects advertising directly to the shopping journey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Helps brands reach consumers </a:t>
            </a:r>
            <a:r>
              <a:rPr b="1" lang="fr" sz="1100">
                <a:solidFill>
                  <a:schemeClr val="dk1"/>
                </a:solidFill>
              </a:rPr>
              <a:t>at the moment of purchase decision</a:t>
            </a:r>
            <a:r>
              <a:rPr lang="fr" sz="1100">
                <a:solidFill>
                  <a:schemeClr val="dk1"/>
                </a:solidFill>
              </a:rPr>
              <a:t>, not just during awareness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>
                <a:solidFill>
                  <a:schemeClr val="dk1"/>
                </a:solidFill>
              </a:rPr>
              <a:t> Who it serves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</a:rPr>
              <a:t>Brands / Retailers / Media owners &amp; publishers / Agencies</a:t>
            </a:r>
            <a:br>
              <a:rPr b="1" lang="fr" sz="1100">
                <a:solidFill>
                  <a:schemeClr val="dk1"/>
                </a:solidFill>
              </a:rPr>
            </a:br>
            <a:r>
              <a:rPr lang="fr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7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Main objectives</a:t>
            </a:r>
            <a:endParaRPr/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669625" y="1053525"/>
            <a:ext cx="7784400" cy="3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Split the dataset into two groups based on the treatment variable:</a:t>
            </a:r>
            <a:br>
              <a:rPr lang="fr" sz="1100">
                <a:solidFill>
                  <a:schemeClr val="dk1"/>
                </a:solidFill>
              </a:rPr>
            </a:br>
            <a:r>
              <a:rPr lang="fr" sz="1100">
                <a:solidFill>
                  <a:schemeClr val="dk1"/>
                </a:solidFill>
              </a:rPr>
              <a:t> </a:t>
            </a:r>
            <a:r>
              <a:rPr b="1" lang="fr" sz="1100">
                <a:solidFill>
                  <a:schemeClr val="dk1"/>
                </a:solidFill>
              </a:rPr>
              <a:t>treatment = 0</a:t>
            </a:r>
            <a:r>
              <a:rPr lang="fr" sz="1100">
                <a:solidFill>
                  <a:schemeClr val="dk1"/>
                </a:solidFill>
              </a:rPr>
              <a:t> as the </a:t>
            </a:r>
            <a:r>
              <a:rPr b="1" lang="fr" sz="1100">
                <a:solidFill>
                  <a:schemeClr val="dk1"/>
                </a:solidFill>
              </a:rPr>
              <a:t>control group</a:t>
            </a:r>
            <a:r>
              <a:rPr lang="fr" sz="1100">
                <a:solidFill>
                  <a:schemeClr val="dk1"/>
                </a:solidFill>
              </a:rPr>
              <a:t> and </a:t>
            </a:r>
            <a:r>
              <a:rPr b="1" lang="fr" sz="1100">
                <a:solidFill>
                  <a:schemeClr val="dk1"/>
                </a:solidFill>
              </a:rPr>
              <a:t>treatment = 1</a:t>
            </a:r>
            <a:r>
              <a:rPr lang="fr" sz="1100">
                <a:solidFill>
                  <a:schemeClr val="dk1"/>
                </a:solidFill>
              </a:rPr>
              <a:t> as the </a:t>
            </a:r>
            <a:r>
              <a:rPr b="1" lang="fr" sz="1100">
                <a:solidFill>
                  <a:schemeClr val="dk1"/>
                </a:solidFill>
              </a:rPr>
              <a:t>treatment (experimental) group</a:t>
            </a:r>
            <a:r>
              <a:rPr lang="fr" sz="1100">
                <a:solidFill>
                  <a:schemeClr val="dk1"/>
                </a:solidFill>
              </a:rPr>
              <a:t>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Train </a:t>
            </a:r>
            <a:r>
              <a:rPr b="1" lang="fr" sz="1100">
                <a:solidFill>
                  <a:schemeClr val="dk1"/>
                </a:solidFill>
              </a:rPr>
              <a:t>separate logistic regression models</a:t>
            </a:r>
            <a:r>
              <a:rPr lang="fr" sz="1100">
                <a:solidFill>
                  <a:schemeClr val="dk1"/>
                </a:solidFill>
              </a:rPr>
              <a:t> for the control group and the treatment group to predict whether a user will convert, and </a:t>
            </a:r>
            <a:r>
              <a:rPr b="1" lang="fr" sz="1100">
                <a:solidFill>
                  <a:schemeClr val="dk1"/>
                </a:solidFill>
              </a:rPr>
              <a:t>evaluate their performance on the test set</a:t>
            </a:r>
            <a:r>
              <a:rPr lang="fr" sz="1100">
                <a:solidFill>
                  <a:schemeClr val="dk1"/>
                </a:solidFill>
              </a:rPr>
              <a:t>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Use the two trained models to </a:t>
            </a:r>
            <a:r>
              <a:rPr b="1" lang="fr" sz="1100">
                <a:solidFill>
                  <a:schemeClr val="dk1"/>
                </a:solidFill>
              </a:rPr>
              <a:t>estimate uplift values</a:t>
            </a:r>
            <a:r>
              <a:rPr lang="fr" sz="1100">
                <a:solidFill>
                  <a:schemeClr val="dk1"/>
                </a:solidFill>
              </a:rPr>
              <a:t> and analyze the</a:t>
            </a:r>
            <a:r>
              <a:rPr b="1" lang="fr" sz="1100">
                <a:solidFill>
                  <a:schemeClr val="dk1"/>
                </a:solidFill>
              </a:rPr>
              <a:t> impact of advertising on user conversion behavior</a:t>
            </a:r>
            <a:r>
              <a:rPr lang="f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513" y="3319050"/>
            <a:ext cx="7496976" cy="6484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4754800" y="3243825"/>
            <a:ext cx="251700" cy="864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7608850" y="3243825"/>
            <a:ext cx="251700" cy="864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2609275" y="3192325"/>
            <a:ext cx="2528700" cy="1021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420016" y="3188861"/>
            <a:ext cx="2528700" cy="10218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2609275" y="4266050"/>
            <a:ext cx="2528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accent1"/>
                </a:solidFill>
              </a:rPr>
              <a:t>The conversion probability calculated by the experimental group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420025" y="4266050"/>
            <a:ext cx="2528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accent4"/>
                </a:solidFill>
              </a:rPr>
              <a:t>The conversion probability calculated by the control group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8050500" y="4014650"/>
            <a:ext cx="9318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0000"/>
                </a:solidFill>
              </a:rPr>
              <a:t>A set of features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18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102" name="Google Shape;10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Data Structures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900" y="1016120"/>
            <a:ext cx="6452164" cy="392303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7042725" y="1105475"/>
            <a:ext cx="19137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fr" sz="1100">
                <a:solidFill>
                  <a:schemeClr val="dk2"/>
                </a:solidFill>
              </a:rPr>
              <a:t>treatment</a:t>
            </a:r>
            <a:endParaRPr b="1" sz="11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Whether the user is assigned to the treatment group</a:t>
            </a:r>
            <a:endParaRPr sz="11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fr" sz="1100">
                <a:solidFill>
                  <a:schemeClr val="dk2"/>
                </a:solidFill>
              </a:rPr>
              <a:t>conversion</a:t>
            </a:r>
            <a:endParaRPr b="1" sz="11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Whether the user converted, e.g. purchase </a:t>
            </a:r>
            <a:endParaRPr sz="11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fr" sz="1100">
                <a:solidFill>
                  <a:schemeClr val="dk2"/>
                </a:solidFill>
              </a:rPr>
              <a:t>visit</a:t>
            </a:r>
            <a:endParaRPr b="1" sz="11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Whether the user visited the website</a:t>
            </a:r>
            <a:endParaRPr sz="11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fr" sz="1100">
                <a:solidFill>
                  <a:schemeClr val="dk2"/>
                </a:solidFill>
              </a:rPr>
              <a:t>exposure</a:t>
            </a:r>
            <a:endParaRPr b="1" sz="11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Whether the user was exposed to the advertisement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825500" y="1016125"/>
            <a:ext cx="5896800" cy="1301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825500" y="2326800"/>
            <a:ext cx="4217100" cy="1301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19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Original data distribution</a:t>
            </a:r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650" y="1007445"/>
            <a:ext cx="5059111" cy="392303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/>
          <p:nvPr/>
        </p:nvSpPr>
        <p:spPr>
          <a:xfrm>
            <a:off x="1161300" y="1953625"/>
            <a:ext cx="1570500" cy="50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1253625" y="4688950"/>
            <a:ext cx="4490100" cy="241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5838000" y="4688950"/>
            <a:ext cx="514800" cy="241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6498750" y="4373500"/>
            <a:ext cx="23340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Too few positive samples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p20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Split test set</a:t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950" y="1475070"/>
            <a:ext cx="5924550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747575" y="1027550"/>
            <a:ext cx="61047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Keep the ratio(conversion=0/1) as the original dataset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818050" y="2571750"/>
            <a:ext cx="4563300" cy="50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818050" y="4281250"/>
            <a:ext cx="4563300" cy="50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21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139" name="Google Shape;1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562200" y="335750"/>
            <a:ext cx="715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Downsampling the training set </a:t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611200" y="1056423"/>
            <a:ext cx="55776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Problem: </a:t>
            </a:r>
            <a:r>
              <a:rPr lang="fr" sz="1100">
                <a:solidFill>
                  <a:schemeClr val="dk1"/>
                </a:solidFill>
              </a:rPr>
              <a:t>Class imbalance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Method:</a:t>
            </a:r>
            <a:r>
              <a:rPr lang="fr" sz="1100">
                <a:solidFill>
                  <a:schemeClr val="dk1"/>
                </a:solidFill>
              </a:rPr>
              <a:t> Downsampling the training set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Resulting class distribution:  </a:t>
            </a:r>
            <a:r>
              <a:rPr lang="fr" sz="1100">
                <a:solidFill>
                  <a:schemeClr val="dk1"/>
                </a:solidFill>
              </a:rPr>
              <a:t>conversion = 0 : conversion = 1 = </a:t>
            </a:r>
            <a:r>
              <a:rPr b="1" lang="fr" sz="1100">
                <a:solidFill>
                  <a:schemeClr val="dk1"/>
                </a:solidFill>
              </a:rPr>
              <a:t>5 : 1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875" y="2207875"/>
            <a:ext cx="4895154" cy="26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p22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Data characteristics</a:t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611200" y="1456800"/>
            <a:ext cx="5577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700" y="1073550"/>
            <a:ext cx="7339802" cy="412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" name="Google Shape;158;p23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159" name="Google Shape;1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Heatmap treatement = 0</a:t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611200" y="1456800"/>
            <a:ext cx="5577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850" y="1134150"/>
            <a:ext cx="4483098" cy="38417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5466775" y="1270000"/>
            <a:ext cx="31347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23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Google Shape;169;p24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170" name="Google Shape;1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Heatmap treatment = 1</a:t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611200" y="1456800"/>
            <a:ext cx="5577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175" y="1099525"/>
            <a:ext cx="4422723" cy="378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/>
        </p:nvSpPr>
        <p:spPr>
          <a:xfrm>
            <a:off x="5553375" y="1295975"/>
            <a:ext cx="35157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24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5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181" name="Google Shape;1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5-folds training </a:t>
            </a:r>
            <a:endParaRPr/>
          </a:p>
        </p:txBody>
      </p:sp>
      <p:sp>
        <p:nvSpPr>
          <p:cNvPr id="183" name="Google Shape;183;p25"/>
          <p:cNvSpPr txBox="1"/>
          <p:nvPr/>
        </p:nvSpPr>
        <p:spPr>
          <a:xfrm>
            <a:off x="611200" y="1456800"/>
            <a:ext cx="5577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564" y="1538675"/>
            <a:ext cx="3775205" cy="8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000" y="2296600"/>
            <a:ext cx="4683017" cy="26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 txBox="1"/>
          <p:nvPr/>
        </p:nvSpPr>
        <p:spPr>
          <a:xfrm>
            <a:off x="5346550" y="1061800"/>
            <a:ext cx="34953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404418" y="2606386"/>
            <a:ext cx="3770100" cy="329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365050" y="1061800"/>
            <a:ext cx="395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Treatment=0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2921000" y="1339275"/>
            <a:ext cx="498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4622309" y="1135938"/>
            <a:ext cx="395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Treatment=1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2" name="Google Shape;19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2291" y="1615900"/>
            <a:ext cx="4392061" cy="66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36052" y="2362600"/>
            <a:ext cx="4184038" cy="256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/>
          <p:nvPr/>
        </p:nvSpPr>
        <p:spPr>
          <a:xfrm>
            <a:off x="4933268" y="2646236"/>
            <a:ext cx="3770100" cy="329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26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200" name="Google Shape;20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fr" sz="2400">
                <a:solidFill>
                  <a:schemeClr val="dk2"/>
                </a:solidFill>
              </a:rPr>
              <a:t>Evaluation treatment = 0</a:t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611200" y="1456800"/>
            <a:ext cx="5577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4485775" y="1281650"/>
            <a:ext cx="27876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4" name="Google Shape;204;p26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05" name="Google Shape;20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550" y="1080875"/>
            <a:ext cx="4502554" cy="107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8550" y="2245100"/>
            <a:ext cx="3393780" cy="26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5664" y="1080863"/>
            <a:ext cx="3775205" cy="8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/>
          <p:nvPr/>
        </p:nvSpPr>
        <p:spPr>
          <a:xfrm rot="-5400000">
            <a:off x="7579600" y="1253550"/>
            <a:ext cx="251700" cy="65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6"/>
          <p:cNvSpPr txBox="1"/>
          <p:nvPr/>
        </p:nvSpPr>
        <p:spPr>
          <a:xfrm>
            <a:off x="8090475" y="1443175"/>
            <a:ext cx="10131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training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5774" y="2016150"/>
            <a:ext cx="3925224" cy="302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/>
          <p:nvPr/>
        </p:nvSpPr>
        <p:spPr>
          <a:xfrm>
            <a:off x="801900" y="1477525"/>
            <a:ext cx="1434900" cy="15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6133275" y="2406900"/>
            <a:ext cx="1013100" cy="2274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27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218" name="Google Shape;2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fr" sz="2400">
                <a:solidFill>
                  <a:schemeClr val="dk2"/>
                </a:solidFill>
              </a:rPr>
              <a:t>Evaluation treatment = 1</a:t>
            </a:r>
            <a:endParaRPr/>
          </a:p>
        </p:txBody>
      </p:sp>
      <p:sp>
        <p:nvSpPr>
          <p:cNvPr id="220" name="Google Shape;220;p27"/>
          <p:cNvSpPr txBox="1"/>
          <p:nvPr/>
        </p:nvSpPr>
        <p:spPr>
          <a:xfrm>
            <a:off x="611200" y="1456800"/>
            <a:ext cx="5577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21" name="Google Shape;221;p27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22" name="Google Shape;22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25" y="1047575"/>
            <a:ext cx="4792051" cy="91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9999" y="1053061"/>
            <a:ext cx="3667598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/>
          <p:nvPr/>
        </p:nvSpPr>
        <p:spPr>
          <a:xfrm rot="-5400000">
            <a:off x="7579600" y="1253550"/>
            <a:ext cx="251700" cy="65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7"/>
          <p:cNvSpPr txBox="1"/>
          <p:nvPr/>
        </p:nvSpPr>
        <p:spPr>
          <a:xfrm>
            <a:off x="8081825" y="1383450"/>
            <a:ext cx="10131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training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6" name="Google Shape;226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225" y="2017375"/>
            <a:ext cx="3432282" cy="26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99074" y="1962725"/>
            <a:ext cx="3175774" cy="299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7"/>
          <p:cNvSpPr/>
          <p:nvPr/>
        </p:nvSpPr>
        <p:spPr>
          <a:xfrm>
            <a:off x="680600" y="1391175"/>
            <a:ext cx="1434900" cy="15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6012048" y="2406900"/>
            <a:ext cx="1013100" cy="2274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" name="Google Shape;234;p28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235" name="Google Shape;2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Training with full data t0</a:t>
            </a:r>
            <a:endParaRPr/>
          </a:p>
        </p:txBody>
      </p:sp>
      <p:sp>
        <p:nvSpPr>
          <p:cNvPr id="237" name="Google Shape;237;p28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38" name="Google Shape;23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200" y="1090750"/>
            <a:ext cx="4710249" cy="331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9789" y="3452325"/>
            <a:ext cx="3775205" cy="8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8"/>
          <p:cNvSpPr/>
          <p:nvPr/>
        </p:nvSpPr>
        <p:spPr>
          <a:xfrm rot="10800000">
            <a:off x="5536050" y="2794125"/>
            <a:ext cx="251700" cy="65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8"/>
          <p:cNvSpPr txBox="1"/>
          <p:nvPr/>
        </p:nvSpPr>
        <p:spPr>
          <a:xfrm>
            <a:off x="4572000" y="1988700"/>
            <a:ext cx="25488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train with downsampling set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Google Shape;246;p29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247" name="Google Shape;24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fr" sz="2400">
                <a:solidFill>
                  <a:schemeClr val="dk2"/>
                </a:solidFill>
              </a:rPr>
              <a:t>Training with full data t1</a:t>
            </a:r>
            <a:endParaRPr/>
          </a:p>
        </p:txBody>
      </p:sp>
      <p:sp>
        <p:nvSpPr>
          <p:cNvPr id="249" name="Google Shape;249;p29"/>
          <p:cNvSpPr txBox="1"/>
          <p:nvPr/>
        </p:nvSpPr>
        <p:spPr>
          <a:xfrm>
            <a:off x="611200" y="1456800"/>
            <a:ext cx="5577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0" name="Google Shape;250;p29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51" name="Google Shape;25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225" y="1004975"/>
            <a:ext cx="4188699" cy="367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5916" y="3884575"/>
            <a:ext cx="4392061" cy="6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/>
          <p:nvPr/>
        </p:nvSpPr>
        <p:spPr>
          <a:xfrm rot="10800000">
            <a:off x="5882400" y="3140475"/>
            <a:ext cx="251700" cy="658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9"/>
          <p:cNvSpPr txBox="1"/>
          <p:nvPr/>
        </p:nvSpPr>
        <p:spPr>
          <a:xfrm>
            <a:off x="4693225" y="2344175"/>
            <a:ext cx="25488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train with downsampling set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Google Shape;259;p30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260" name="Google Shape;26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0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Evaluation for full data</a:t>
            </a:r>
            <a:endParaRPr/>
          </a:p>
        </p:txBody>
      </p:sp>
      <p:sp>
        <p:nvSpPr>
          <p:cNvPr id="262" name="Google Shape;262;p30"/>
          <p:cNvSpPr txBox="1"/>
          <p:nvPr/>
        </p:nvSpPr>
        <p:spPr>
          <a:xfrm>
            <a:off x="611200" y="1456800"/>
            <a:ext cx="5577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3" name="Google Shape;263;p30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64" name="Google Shape;26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950" y="1116850"/>
            <a:ext cx="3666609" cy="26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9" y="1160150"/>
            <a:ext cx="3531466" cy="26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0"/>
          <p:cNvSpPr txBox="1"/>
          <p:nvPr/>
        </p:nvSpPr>
        <p:spPr>
          <a:xfrm>
            <a:off x="617675" y="3971625"/>
            <a:ext cx="6503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Find best threshold: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7" name="Google Shape;267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1675" y="4083925"/>
            <a:ext cx="3910070" cy="51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0"/>
          <p:cNvSpPr txBox="1"/>
          <p:nvPr/>
        </p:nvSpPr>
        <p:spPr>
          <a:xfrm>
            <a:off x="635000" y="4534475"/>
            <a:ext cx="7559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maximizing the true positive rate &amp; minimizing the false positive rate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Google Shape;273;p31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274" name="Google Shape;2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1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fr" sz="2400">
                <a:solidFill>
                  <a:schemeClr val="dk2"/>
                </a:solidFill>
              </a:rPr>
              <a:t>Evaluation for full data t0</a:t>
            </a:r>
            <a:endParaRPr/>
          </a:p>
        </p:txBody>
      </p:sp>
      <p:sp>
        <p:nvSpPr>
          <p:cNvPr id="276" name="Google Shape;276;p31"/>
          <p:cNvSpPr txBox="1"/>
          <p:nvPr/>
        </p:nvSpPr>
        <p:spPr>
          <a:xfrm>
            <a:off x="611200" y="1456800"/>
            <a:ext cx="5577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7" name="Google Shape;277;p31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78" name="Google Shape;27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588" y="995625"/>
            <a:ext cx="4690925" cy="92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1"/>
          <p:cNvSpPr/>
          <p:nvPr/>
        </p:nvSpPr>
        <p:spPr>
          <a:xfrm>
            <a:off x="3726300" y="1263950"/>
            <a:ext cx="251700" cy="39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1"/>
          <p:cNvSpPr txBox="1"/>
          <p:nvPr/>
        </p:nvSpPr>
        <p:spPr>
          <a:xfrm>
            <a:off x="3483850" y="1702950"/>
            <a:ext cx="1333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0.3608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1" name="Google Shape;28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5850" y="2002200"/>
            <a:ext cx="3069000" cy="305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6616" y="1010573"/>
            <a:ext cx="3639177" cy="92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1"/>
          <p:cNvSpPr/>
          <p:nvPr/>
        </p:nvSpPr>
        <p:spPr>
          <a:xfrm>
            <a:off x="7974450" y="1275988"/>
            <a:ext cx="251700" cy="39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1"/>
          <p:cNvSpPr txBox="1"/>
          <p:nvPr/>
        </p:nvSpPr>
        <p:spPr>
          <a:xfrm>
            <a:off x="7896500" y="1763700"/>
            <a:ext cx="8346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5" name="Google Shape;285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4301" y="2159400"/>
            <a:ext cx="3141818" cy="290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" name="Google Shape;290;p32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291" name="Google Shape;29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2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fr" sz="2400">
                <a:solidFill>
                  <a:schemeClr val="dk2"/>
                </a:solidFill>
              </a:rPr>
              <a:t>Evaluation for full data t1</a:t>
            </a:r>
            <a:endParaRPr/>
          </a:p>
        </p:txBody>
      </p:sp>
      <p:sp>
        <p:nvSpPr>
          <p:cNvPr id="293" name="Google Shape;293;p32"/>
          <p:cNvSpPr txBox="1"/>
          <p:nvPr/>
        </p:nvSpPr>
        <p:spPr>
          <a:xfrm>
            <a:off x="611200" y="1456800"/>
            <a:ext cx="5577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4" name="Google Shape;294;p32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95" name="Google Shape;29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975" y="1046100"/>
            <a:ext cx="4083585" cy="8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2"/>
          <p:cNvSpPr/>
          <p:nvPr/>
        </p:nvSpPr>
        <p:spPr>
          <a:xfrm>
            <a:off x="3726300" y="1263950"/>
            <a:ext cx="251700" cy="39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2"/>
          <p:cNvSpPr txBox="1"/>
          <p:nvPr/>
        </p:nvSpPr>
        <p:spPr>
          <a:xfrm>
            <a:off x="3483850" y="1702950"/>
            <a:ext cx="1333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0.4013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8" name="Google Shape;29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900" y="2098650"/>
            <a:ext cx="2853012" cy="2679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7350" y="1046100"/>
            <a:ext cx="3586003" cy="8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/>
          <p:nvPr/>
        </p:nvSpPr>
        <p:spPr>
          <a:xfrm>
            <a:off x="7247100" y="1263950"/>
            <a:ext cx="251700" cy="39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2"/>
          <p:cNvSpPr txBox="1"/>
          <p:nvPr/>
        </p:nvSpPr>
        <p:spPr>
          <a:xfrm>
            <a:off x="7195125" y="1702950"/>
            <a:ext cx="1333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2" name="Google Shape;302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3525" y="2159400"/>
            <a:ext cx="2910203" cy="27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" name="Google Shape;307;p33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308" name="Google Shape;3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3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Uplift Result with full data</a:t>
            </a:r>
            <a:endParaRPr/>
          </a:p>
        </p:txBody>
      </p:sp>
      <p:sp>
        <p:nvSpPr>
          <p:cNvPr id="310" name="Google Shape;310;p33"/>
          <p:cNvSpPr txBox="1"/>
          <p:nvPr/>
        </p:nvSpPr>
        <p:spPr>
          <a:xfrm>
            <a:off x="611200" y="1456800"/>
            <a:ext cx="5577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11" name="Google Shape;311;p33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12" name="Google Shape;31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200" y="1134175"/>
            <a:ext cx="6732308" cy="3790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7" name="Google Shape;317;p34"/>
          <p:cNvCxnSpPr/>
          <p:nvPr/>
        </p:nvCxnSpPr>
        <p:spPr>
          <a:xfrm>
            <a:off x="611188" y="915566"/>
            <a:ext cx="853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 Telecom SudParis - Endoss IP Paris H Noir - RVB" id="318" name="Google Shape;3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40" y="51435"/>
            <a:ext cx="2372363" cy="86423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4"/>
          <p:cNvSpPr txBox="1"/>
          <p:nvPr/>
        </p:nvSpPr>
        <p:spPr>
          <a:xfrm>
            <a:off x="562200" y="335750"/>
            <a:ext cx="49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400">
                <a:solidFill>
                  <a:schemeClr val="dk2"/>
                </a:solidFill>
              </a:rPr>
              <a:t>Uplift result with full data</a:t>
            </a:r>
            <a:endParaRPr/>
          </a:p>
        </p:txBody>
      </p:sp>
      <p:sp>
        <p:nvSpPr>
          <p:cNvPr id="320" name="Google Shape;320;p34"/>
          <p:cNvSpPr txBox="1"/>
          <p:nvPr>
            <p:ph idx="12" type="sldNum"/>
          </p:nvPr>
        </p:nvSpPr>
        <p:spPr>
          <a:xfrm>
            <a:off x="8590151" y="4594704"/>
            <a:ext cx="251700" cy="32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21" name="Google Shape;32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68075"/>
            <a:ext cx="4240649" cy="24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4"/>
          <p:cNvSpPr txBox="1"/>
          <p:nvPr/>
        </p:nvSpPr>
        <p:spPr>
          <a:xfrm>
            <a:off x="5241625" y="1270000"/>
            <a:ext cx="3091200" cy="24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200">
                <a:solidFill>
                  <a:srgbClr val="202122"/>
                </a:solidFill>
                <a:highlight>
                  <a:srgbClr val="FFFFFF"/>
                </a:highlight>
              </a:rPr>
              <a:t>The Persuadables</a:t>
            </a:r>
            <a:r>
              <a:rPr b="1" lang="fr" sz="120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r>
              <a:rPr lang="fr" sz="1200">
                <a:solidFill>
                  <a:srgbClr val="202122"/>
                </a:solidFill>
                <a:highlight>
                  <a:srgbClr val="FFFFFF"/>
                </a:highlight>
              </a:rPr>
              <a:t>customers who only respond to the marketing action because they were targeted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200">
                <a:solidFill>
                  <a:srgbClr val="202122"/>
                </a:solidFill>
                <a:highlight>
                  <a:srgbClr val="FFFFFF"/>
                </a:highlight>
              </a:rPr>
              <a:t>The Lost Causes</a:t>
            </a:r>
            <a:r>
              <a:rPr b="1" lang="fr" sz="1200">
                <a:solidFill>
                  <a:srgbClr val="202122"/>
                </a:solidFill>
                <a:highlight>
                  <a:srgbClr val="FFFFFF"/>
                </a:highlight>
              </a:rPr>
              <a:t>:</a:t>
            </a:r>
            <a:r>
              <a:rPr lang="fr" sz="1200">
                <a:solidFill>
                  <a:srgbClr val="202122"/>
                </a:solidFill>
                <a:highlight>
                  <a:srgbClr val="FFFFFF"/>
                </a:highlight>
              </a:rPr>
              <a:t> customers who will not respond irrespective of whether or not they are targeted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200">
                <a:solidFill>
                  <a:srgbClr val="202122"/>
                </a:solidFill>
                <a:highlight>
                  <a:srgbClr val="FFFFFF"/>
                </a:highlight>
              </a:rPr>
              <a:t>The Do Not Disturbs</a:t>
            </a:r>
            <a:r>
              <a:rPr b="1" lang="fr" sz="1200">
                <a:solidFill>
                  <a:srgbClr val="202122"/>
                </a:solidFill>
                <a:highlight>
                  <a:srgbClr val="FFFFFF"/>
                </a:highlight>
              </a:rPr>
              <a:t> or </a:t>
            </a:r>
            <a:r>
              <a:rPr b="1" i="1" lang="fr" sz="1200">
                <a:solidFill>
                  <a:srgbClr val="202122"/>
                </a:solidFill>
                <a:highlight>
                  <a:srgbClr val="FFFFFF"/>
                </a:highlight>
              </a:rPr>
              <a:t>Sleeping Dogs</a:t>
            </a:r>
            <a:r>
              <a:rPr b="1" lang="fr" sz="120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r>
              <a:rPr lang="fr" sz="1200">
                <a:solidFill>
                  <a:srgbClr val="202122"/>
                </a:solidFill>
                <a:highlight>
                  <a:srgbClr val="FFFFFF"/>
                </a:highlight>
              </a:rPr>
              <a:t>customers who are less likely to respond because they were targeted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pic>
        <p:nvPicPr>
          <p:cNvPr id="323" name="Google Shape;32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025" y="3563951"/>
            <a:ext cx="8271247" cy="136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5"/>
          <p:cNvPicPr preferRelativeResize="0"/>
          <p:nvPr/>
        </p:nvPicPr>
        <p:blipFill rotWithShape="1">
          <a:blip r:embed="rId3">
            <a:alphaModFix/>
          </a:blip>
          <a:srcRect b="30506" l="35144" r="40560" t="40918"/>
          <a:stretch/>
        </p:blipFill>
        <p:spPr>
          <a:xfrm>
            <a:off x="5040560" y="0"/>
            <a:ext cx="43559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5"/>
          <p:cNvSpPr txBox="1"/>
          <p:nvPr>
            <p:ph type="title"/>
          </p:nvPr>
        </p:nvSpPr>
        <p:spPr>
          <a:xfrm>
            <a:off x="576064" y="1757482"/>
            <a:ext cx="4942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0" lang="fr" sz="2800"/>
              <a:t>Thank you !</a:t>
            </a:r>
            <a:endParaRPr i="0" sz="2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0" sz="2800"/>
          </a:p>
        </p:txBody>
      </p:sp>
      <p:sp>
        <p:nvSpPr>
          <p:cNvPr id="330" name="Google Shape;330;p35"/>
          <p:cNvSpPr txBox="1"/>
          <p:nvPr>
            <p:ph idx="2" type="subTitle"/>
          </p:nvPr>
        </p:nvSpPr>
        <p:spPr>
          <a:xfrm>
            <a:off x="576000" y="3229724"/>
            <a:ext cx="40368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75"/>
          </a:p>
        </p:txBody>
      </p:sp>
      <p:sp>
        <p:nvSpPr>
          <p:cNvPr id="331" name="Google Shape;331;p35"/>
          <p:cNvSpPr/>
          <p:nvPr/>
        </p:nvSpPr>
        <p:spPr>
          <a:xfrm>
            <a:off x="6444208" y="358206"/>
            <a:ext cx="2466000" cy="2466300"/>
          </a:xfrm>
          <a:prstGeom prst="ellipse">
            <a:avLst/>
          </a:prstGeom>
          <a:noFill/>
          <a:ln cap="flat" cmpd="sng" w="222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00" y="358200"/>
            <a:ext cx="4942326" cy="5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